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37b35b9974495d" /><Relationship Type="http://schemas.openxmlformats.org/officeDocument/2006/relationships/extended-properties" Target="/docProps/app.xml" Id="R9379e6e474574976" /><Relationship Type="http://schemas.openxmlformats.org/officeDocument/2006/relationships/officeDocument" Target="/ppt/presentation.xml" Id="Ra1e9c2f1e09d49d3" /></Relationships>
</file>

<file path=ppt/presentation.xml><?xml version="1.0" encoding="utf-8"?>
<p:presentation xmlns:p="http://schemas.openxmlformats.org/presentationml/2006/main">
  <p:sldMasterIdLst>
    <p:sldMasterId xmlns:r="http://schemas.openxmlformats.org/officeDocument/2006/relationships" id="2147483648" r:id="R91e43f836f094b09"/>
  </p:sldMasterIdLst>
  <p:notesMasterIdLst>
    <p:notesMasterId xmlns:r="http://schemas.openxmlformats.org/officeDocument/2006/relationships" r:id="R41dbfe0fad09457b"/>
  </p:notesMasterIdLst>
  <p:sldIdLst>
    <p:sldId xmlns:r="http://schemas.openxmlformats.org/officeDocument/2006/relationships" id="256" r:id="Rae2d5455a55a4869"/>
    <p:sldId xmlns:r="http://schemas.openxmlformats.org/officeDocument/2006/relationships" id="257" r:id="R693f171f225b4917"/>
    <p:sldId xmlns:r="http://schemas.openxmlformats.org/officeDocument/2006/relationships" id="258" r:id="R1891f462bc4b42d9"/>
    <p:sldId xmlns:r="http://schemas.openxmlformats.org/officeDocument/2006/relationships" id="259" r:id="R7c79c7081f7d45f9"/>
    <p:sldId xmlns:r="http://schemas.openxmlformats.org/officeDocument/2006/relationships" id="260" r:id="Rac944e797ed4499e"/>
    <p:sldId xmlns:r="http://schemas.openxmlformats.org/officeDocument/2006/relationships" id="261" r:id="R0f829ed8b1f447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fc64a633ba4fa9" /><Relationship Type="http://schemas.openxmlformats.org/officeDocument/2006/relationships/slideMaster" Target="/ppt/slideMasters/slideMaster1.xml" Id="R91e43f836f094b09" /><Relationship Type="http://schemas.openxmlformats.org/officeDocument/2006/relationships/notesMaster" Target="/ppt/notesMasters/notesMaster1.xml" Id="R41dbfe0fad09457b" /><Relationship Type="http://schemas.openxmlformats.org/officeDocument/2006/relationships/presProps" Target="/ppt/presProps.xml" Id="Rb728514514d84d9e" /><Relationship Type="http://schemas.openxmlformats.org/officeDocument/2006/relationships/tableStyles" Target="/ppt/tableStyles.xml" Id="R64a43e6e22ed4072" /><Relationship Type="http://schemas.openxmlformats.org/officeDocument/2006/relationships/slide" Target="/ppt/slides/slide1.xml" Id="Rae2d5455a55a4869" /><Relationship Type="http://schemas.openxmlformats.org/officeDocument/2006/relationships/slide" Target="/ppt/slides/slide2.xml" Id="R693f171f225b4917" /><Relationship Type="http://schemas.openxmlformats.org/officeDocument/2006/relationships/slide" Target="/ppt/slides/slide3.xml" Id="R1891f462bc4b42d9" /><Relationship Type="http://schemas.openxmlformats.org/officeDocument/2006/relationships/slide" Target="/ppt/slides/slide4.xml" Id="R7c79c7081f7d45f9" /><Relationship Type="http://schemas.openxmlformats.org/officeDocument/2006/relationships/slide" Target="/ppt/slides/slide5.xml" Id="Rac944e797ed4499e" /><Relationship Type="http://schemas.openxmlformats.org/officeDocument/2006/relationships/slide" Target="/ppt/slides/slide6.xml" Id="R0f829ed8b1f447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80e432f5ab47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95d96e8f424f10" /><Relationship Type="http://schemas.openxmlformats.org/officeDocument/2006/relationships/notesMaster" Target="/ppt/notesMasters/notesMaster1.xml" Id="R010d61630c4444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c68f7609254223" /><Relationship Type="http://schemas.openxmlformats.org/officeDocument/2006/relationships/notesMaster" Target="/ppt/notesMasters/notesMaster1.xml" Id="Rce3d08c380ef43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d786deb8ab4149" /><Relationship Type="http://schemas.openxmlformats.org/officeDocument/2006/relationships/notesMaster" Target="/ppt/notesMasters/notesMaster1.xml" Id="R8f303971c6ca44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5501b9d2f649b0" /><Relationship Type="http://schemas.openxmlformats.org/officeDocument/2006/relationships/notesMaster" Target="/ppt/notesMasters/notesMaster1.xml" Id="Rd4741a1bc3d840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1979bfc4cb4ac5" /><Relationship Type="http://schemas.openxmlformats.org/officeDocument/2006/relationships/notesMaster" Target="/ppt/notesMasters/notesMaster1.xml" Id="R8d9048d26ac74f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3215a41d5142cc" /><Relationship Type="http://schemas.openxmlformats.org/officeDocument/2006/relationships/notesMaster" Target="/ppt/notesMasters/notesMaster1.xml" Id="R339022f30c8540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ViaX product overview. Source: repository README.md and application source. The cover is AI-generated photographic artwork, not an app screenshot or real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mobile/lib/screens/subjects/subject_detail_screen.dart, supabase/functions/ingest/index.ts, README.md. Screenshot captured from https://viax-iota.vercel.app on 16 October 2026. AI extraction requires selectable document text and a configured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 capture on 15 October 2026 in light mode. Source: mobile/lib/screens/chat/chat_screen.dart and supabase/functions/chat/index.ts. Empty state shown. General chat does not provide live web 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mobile viewport capture on 15 October 2026. Conversation context is fixed after the first message. Retrieval uses saved source passages. Check important facts and source passages because AI answers may be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mobile/pubspec.yaml; supabase/functions/_shared/llm.ts; supabase/functions/ingest/index.ts; supabase/functions/examine/index.ts. NVIDIA embedding model: nvidia/llama-nemotron-embed-vl-1b-v2 with dimensions=1024. API keys remain in server-side secrets. The separate Python service is optional for the deployed Flutter/Supabase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LICENSE and README.md at https://github.com/Akibly/viax. Public deployment: https://viax-iota.vercel.app. Self-hosting needs a Supabase project and provider credentials. Third-party software and services retain their own licenses and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04d353a97344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fe0aae8c3646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ab59c70e3546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469bca74ffd49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a69dc3029549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be6cd2631249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5D9F4E-A738-4E6E-B2D2-0C188BA0182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03F51C-DD3D-4EB5-8CFA-E4EB1ABC09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EE244D-C52A-41C6-90A6-9ABA880BB6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7746A9-7B26-4176-981D-1120AEFF22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2C6C6F7-0B36-4F65-BF96-B901A74DB0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E41977-BAC2-4DD4-8D57-E26A75617B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BDB626-4EAF-4983-A36F-8DD5FB2CD2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7E42AB-68E9-4C2A-A2C6-B3EFB10239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703C33-A32E-4455-B464-1877D527A5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4A2325-6FCD-4D2E-9B4D-21856BA8C5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eb2201cd1d4c1f" /><Relationship Type="http://schemas.openxmlformats.org/officeDocument/2006/relationships/slideLayout" Target="/ppt/slideLayouts/slideLayout1.xml" Id="Rddfaece0432e4fd6" /><Relationship Type="http://schemas.openxmlformats.org/officeDocument/2006/relationships/slideLayout" Target="/ppt/slideLayouts/slideLayout2.xml" Id="R70c3f0e8d73c4652" /><Relationship Type="http://schemas.openxmlformats.org/officeDocument/2006/relationships/slideLayout" Target="/ppt/slideLayouts/slideLayout3.xml" Id="R7fb498be9b7f4dd2" /><Relationship Type="http://schemas.openxmlformats.org/officeDocument/2006/relationships/slideLayout" Target="/ppt/slideLayouts/slideLayout4.xml" Id="Rb5c4d4d995ac4d32" /><Relationship Type="http://schemas.openxmlformats.org/officeDocument/2006/relationships/slideLayout" Target="/ppt/slideLayouts/slideLayout5.xml" Id="R53993d1181b1426a" /><Relationship Type="http://schemas.openxmlformats.org/officeDocument/2006/relationships/slideLayout" Target="/ppt/slideLayouts/slideLayout6.xml" Id="Rf1b9ef18ba9e4c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faece0432e4fd6"/>
    <p:sldLayoutId xmlns:r="http://schemas.openxmlformats.org/officeDocument/2006/relationships" id="2147483650" r:id="R70c3f0e8d73c4652"/>
    <p:sldLayoutId xmlns:r="http://schemas.openxmlformats.org/officeDocument/2006/relationships" id="2147483651" r:id="R7fb498be9b7f4dd2"/>
    <p:sldLayoutId xmlns:r="http://schemas.openxmlformats.org/officeDocument/2006/relationships" id="2147483652" r:id="Rb5c4d4d995ac4d32"/>
    <p:sldLayoutId xmlns:r="http://schemas.openxmlformats.org/officeDocument/2006/relationships" id="2147483653" r:id="R53993d1181b1426a"/>
    <p:sldLayoutId xmlns:r="http://schemas.openxmlformats.org/officeDocument/2006/relationships" id="2147483654" r:id="Rf1b9ef18ba9e4c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acb977673441e0" /><Relationship Type="http://schemas.openxmlformats.org/officeDocument/2006/relationships/image" Target="/ppt/media/image.png" Id="R8ee0d61875bf4c34" /><Relationship Type="http://schemas.openxmlformats.org/officeDocument/2006/relationships/notesSlide" Target="/ppt/notesSlides/notesSlide1.xml" Id="R316cb17951bb42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3297f88ff94d68" /><Relationship Type="http://schemas.openxmlformats.org/officeDocument/2006/relationships/image" Target="/ppt/media/image.jpeg" Id="R1889049ff8ae4370" /><Relationship Type="http://schemas.openxmlformats.org/officeDocument/2006/relationships/notesSlide" Target="/ppt/notesSlides/notesSlide2.xml" Id="R559966c0086b4b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128c9fcb744d1c" /><Relationship Type="http://schemas.openxmlformats.org/officeDocument/2006/relationships/image" Target="/ppt/media/image2.png" Id="Rc678817f73844490" /><Relationship Type="http://schemas.openxmlformats.org/officeDocument/2006/relationships/notesSlide" Target="/ppt/notesSlides/notesSlide3.xml" Id="R704f37e5b53746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aaff019c704537" /><Relationship Type="http://schemas.openxmlformats.org/officeDocument/2006/relationships/image" Target="/ppt/media/image3.png" Id="Rb2bef86d45104fb2" /><Relationship Type="http://schemas.openxmlformats.org/officeDocument/2006/relationships/notesSlide" Target="/ppt/notesSlides/notesSlide4.xml" Id="Ref785c4e654e4a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6d9df9b8a0401f" /><Relationship Type="http://schemas.openxmlformats.org/officeDocument/2006/relationships/notesSlide" Target="/ppt/notesSlides/notesSlide5.xml" Id="R2b1e51754b9d4a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0ece2c128dc406d" /><Relationship Type="http://schemas.openxmlformats.org/officeDocument/2006/relationships/notesSlide" Target="/ppt/notesSlides/notesSlide6.xml" Id="Ra73ddbb49a69436f" /></Relationships>
</file>

<file path=ppt/slides/slide1.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6AD4254-9D32-4EDC-9E95-88D019D591F3}"/>
              </a:ext>
            </a:extLst>
          </p:cNvPr>
          <p:cNvPicPr>
            <a:picLocks xmlns:a="http://schemas.openxmlformats.org/drawingml/2006/main" noChangeAspect="1"/>
          </p:cNvPicPr>
          <p:nvPr/>
        </p:nvPicPr>
        <p:blipFill>
          <a:blip xmlns:r="http://schemas.openxmlformats.org/officeDocument/2006/relationships" xmlns:a="http://schemas.openxmlformats.org/drawingml/2006/main" r:embed="R8ee0d61875bf4c3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33890F-0BF4-46B5-AE36-DF10BF646116}"/>
              </a:ext>
            </a:extLst>
          </p:cNvPr>
          <p:cNvSpPr>
            <a:spLocks xmlns:a="http://schemas.openxmlformats.org/drawingml/2006/main" noGrp="1"/>
          </p:cNvSpPr>
          <p:nvPr/>
        </p:nvSpPr>
        <p:spPr>
          <a:xfrm xmlns:a="http://schemas.openxmlformats.org/drawingml/2006/main">
            <a:off x="647700" y="140970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1">
                <a:solidFill>
                  <a:srgbClr val="3157D5"/>
                </a:solidFill>
                <a:latin typeface="Arial"/>
                <a:ea typeface="Arial"/>
                <a:cs typeface="Arial"/>
              </a:defRPr>
            </a:defPPr>
          </a:lstStyle>
          <a:p xmlns:a="http://schemas.openxmlformats.org/drawingml/2006/main">
            <a:pPr>
              <a:defRPr sz="6900" b="1">
                <a:solidFill>
                  <a:srgbClr val="3157D5"/>
                </a:solidFill>
                <a:latin typeface="Arial"/>
                <a:ea typeface="Arial"/>
                <a:cs typeface="Arial"/>
              </a:defRPr>
            </a:pPr>
            <a:r>
              <a:rPr sz="6900" b="1">
                <a:solidFill>
                  <a:srgbClr val="3157D5"/>
                </a:solidFill>
                <a:latin typeface="Arial"/>
                <a:ea typeface="Arial"/>
                <a:cs typeface="Arial"/>
              </a:rPr>
              <a:t>ViaX</a:t>
            </a:r>
          </a:p>
        </p:txBody>
      </p:sp>
      <p:sp>
        <p:nvSpPr>
          <p:cNvPr id="3" name="">
            <a:extLst xmlns:a="http://schemas.openxmlformats.org/drawingml/2006/main">
              <a:ext uri="{FF2B5EF4-FFF2-40B4-BE49-F238E27FC236}">
                <a16:creationId xmlns:a16="http://schemas.microsoft.com/office/drawing/2014/main" id="{C3FA5192-87D7-4290-A41B-8CE30CDDB96C}"/>
              </a:ext>
            </a:extLst>
          </p:cNvPr>
          <p:cNvSpPr>
            <a:spLocks xmlns:a="http://schemas.openxmlformats.org/drawingml/2006/main" noGrp="1"/>
          </p:cNvSpPr>
          <p:nvPr/>
        </p:nvSpPr>
        <p:spPr>
          <a:xfrm xmlns:a="http://schemas.openxmlformats.org/drawingml/2006/main">
            <a:off x="685800" y="2733675"/>
            <a:ext cx="4810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92033"/>
                </a:solidFill>
                <a:latin typeface="Arial"/>
                <a:ea typeface="Arial"/>
                <a:cs typeface="Arial"/>
              </a:defRPr>
            </a:defPPr>
          </a:lstStyle>
          <a:p xmlns:a="http://schemas.openxmlformats.org/drawingml/2006/main">
            <a:pPr>
              <a:defRPr sz="3600" b="1">
                <a:solidFill>
                  <a:srgbClr val="192033"/>
                </a:solidFill>
                <a:latin typeface="Arial"/>
                <a:ea typeface="Arial"/>
                <a:cs typeface="Arial"/>
              </a:defRPr>
            </a:pPr>
            <a:r>
              <a:rPr sz="3600" b="1">
                <a:solidFill>
                  <a:srgbClr val="192033"/>
                </a:solidFill>
                <a:latin typeface="Arial"/>
                <a:ea typeface="Arial"/>
                <a:cs typeface="Arial"/>
              </a:rPr>
              <a:t>Practice with</a:t>
            </a:r>
          </a:p>
          <a:p xmlns:a="http://schemas.openxmlformats.org/drawingml/2006/main">
            <a:pPr>
              <a:defRPr sz="3600" b="1">
                <a:solidFill>
                  <a:srgbClr val="192033"/>
                </a:solidFill>
                <a:latin typeface="Arial"/>
                <a:ea typeface="Arial"/>
                <a:cs typeface="Arial"/>
              </a:defRPr>
            </a:pPr>
            <a:r>
              <a:rPr sz="3600" b="1">
                <a:solidFill>
                  <a:srgbClr val="192033"/>
                </a:solidFill>
                <a:latin typeface="Arial"/>
                <a:ea typeface="Arial"/>
                <a:cs typeface="Arial"/>
              </a:rPr>
              <a:t>your own notes</a:t>
            </a:r>
          </a:p>
        </p:txBody>
      </p:sp>
      <p:sp>
        <p:nvSpPr>
          <p:cNvPr id="4" name="">
            <a:extLst xmlns:a="http://schemas.openxmlformats.org/drawingml/2006/main">
              <a:ext uri="{FF2B5EF4-FFF2-40B4-BE49-F238E27FC236}">
                <a16:creationId xmlns:a16="http://schemas.microsoft.com/office/drawing/2014/main" id="{196C9803-EB62-4E4A-B3DA-0FEE617C92E8}"/>
              </a:ext>
            </a:extLst>
          </p:cNvPr>
          <p:cNvSpPr>
            <a:spLocks xmlns:a="http://schemas.openxmlformats.org/drawingml/2006/main" noGrp="1"/>
          </p:cNvSpPr>
          <p:nvPr/>
        </p:nvSpPr>
        <p:spPr>
          <a:xfrm xmlns:a="http://schemas.openxmlformats.org/drawingml/2006/main">
            <a:off x="704850" y="44958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6676"/>
                </a:solidFill>
                <a:latin typeface="Arial"/>
                <a:ea typeface="Arial"/>
                <a:cs typeface="Arial"/>
              </a:defRPr>
            </a:defPPr>
          </a:lstStyle>
          <a:p xmlns:a="http://schemas.openxmlformats.org/drawingml/2006/main">
            <a:pPr>
              <a:defRPr sz="1875" b="0">
                <a:solidFill>
                  <a:srgbClr val="5E6676"/>
                </a:solidFill>
                <a:latin typeface="Arial"/>
                <a:ea typeface="Arial"/>
                <a:cs typeface="Arial"/>
              </a:defRPr>
            </a:pPr>
            <a:r>
              <a:rPr sz="1875" b="0">
                <a:solidFill>
                  <a:srgbClr val="5E6676"/>
                </a:solidFill>
                <a:latin typeface="Arial"/>
                <a:ea typeface="Arial"/>
                <a:cs typeface="Arial"/>
              </a:rPr>
              <a:t>An open-source AI study companion</a:t>
            </a:r>
          </a:p>
        </p:txBody>
      </p:sp>
    </p:spTree>
    <p:extLst>
      <p:ext uri="{BB962C8B-B14F-4D97-AF65-F5344CB8AC3E}">
        <p14:creationId xmlns:p14="http://schemas.microsoft.com/office/powerpoint/2010/main" val="1526425299"/>
      </p:ext>
    </p:extLst>
  </p:cSld>
</p:sld>
</file>

<file path=ppt/slides/slide2.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3086D4-B716-4B01-89B0-E5362E4B4C64}"/>
              </a:ext>
            </a:extLst>
          </p:cNvPr>
          <p:cNvSpPr>
            <a:spLocks xmlns:a="http://schemas.openxmlformats.org/drawingml/2006/main" noGrp="1"/>
          </p:cNvSpPr>
          <p:nvPr/>
        </p:nvSpPr>
        <p:spPr>
          <a:xfrm xmlns:a="http://schemas.openxmlformats.org/drawingml/2006/main">
            <a:off x="60960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92033"/>
                </a:solidFill>
                <a:latin typeface="Arial"/>
                <a:ea typeface="Arial"/>
                <a:cs typeface="Arial"/>
              </a:defRPr>
            </a:defPPr>
          </a:lstStyle>
          <a:p xmlns:a="http://schemas.openxmlformats.org/drawingml/2006/main">
            <a:pPr>
              <a:defRPr sz="3600" b="1">
                <a:solidFill>
                  <a:srgbClr val="192033"/>
                </a:solidFill>
                <a:latin typeface="Arial"/>
                <a:ea typeface="Arial"/>
                <a:cs typeface="Arial"/>
              </a:defRPr>
            </a:pPr>
            <a:r>
              <a:rPr sz="3600" b="1">
                <a:solidFill>
                  <a:srgbClr val="192033"/>
                </a:solidFill>
                <a:latin typeface="Arial"/>
                <a:ea typeface="Arial"/>
                <a:cs typeface="Arial"/>
              </a:rPr>
              <a:t>Your notes become a study base</a:t>
            </a:r>
          </a:p>
        </p:txBody>
      </p:sp>
      <p:sp>
        <p:nvSpPr>
          <p:cNvPr id="2" name="">
            <a:extLst xmlns:a="http://schemas.openxmlformats.org/drawingml/2006/main">
              <a:ext uri="{FF2B5EF4-FFF2-40B4-BE49-F238E27FC236}">
                <a16:creationId xmlns:a16="http://schemas.microsoft.com/office/drawing/2014/main" id="{927F1A2B-341D-4BF2-BAAB-B79C0435189E}"/>
              </a:ext>
            </a:extLst>
          </p:cNvPr>
          <p:cNvSpPr>
            <a:spLocks xmlns:a="http://schemas.openxmlformats.org/drawingml/2006/main" noGrp="1"/>
          </p:cNvSpPr>
          <p:nvPr/>
        </p:nvSpPr>
        <p:spPr>
          <a:xfrm xmlns:a="http://schemas.openxmlformats.org/drawingml/2006/main">
            <a:off x="628650" y="16573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157D5"/>
                </a:solidFill>
                <a:latin typeface="Arial"/>
                <a:ea typeface="Arial"/>
                <a:cs typeface="Arial"/>
              </a:defRPr>
            </a:defPPr>
          </a:lstStyle>
          <a:p xmlns:a="http://schemas.openxmlformats.org/drawingml/2006/main">
            <a:pPr>
              <a:defRPr sz="2325" b="1">
                <a:solidFill>
                  <a:srgbClr val="3157D5"/>
                </a:solidFill>
                <a:latin typeface="Arial"/>
                <a:ea typeface="Arial"/>
                <a:cs typeface="Arial"/>
              </a:defRPr>
            </a:pPr>
            <a:r>
              <a:rPr sz="2325" b="1">
                <a:solidFill>
                  <a:srgbClr val="3157D5"/>
                </a:solidFill>
                <a:latin typeface="Arial"/>
                <a:ea typeface="Arial"/>
                <a:cs typeface="Arial"/>
              </a:rPr>
              <a:t>Upload</a:t>
            </a:r>
          </a:p>
        </p:txBody>
      </p:sp>
      <p:sp>
        <p:nvSpPr>
          <p:cNvPr id="3" name="">
            <a:extLst xmlns:a="http://schemas.openxmlformats.org/drawingml/2006/main">
              <a:ext uri="{FF2B5EF4-FFF2-40B4-BE49-F238E27FC236}">
                <a16:creationId xmlns:a16="http://schemas.microsoft.com/office/drawing/2014/main" id="{62754773-8D3B-4709-B8DF-A5A4FF7C20D2}"/>
              </a:ext>
            </a:extLst>
          </p:cNvPr>
          <p:cNvSpPr>
            <a:spLocks xmlns:a="http://schemas.openxmlformats.org/drawingml/2006/main" noGrp="1"/>
          </p:cNvSpPr>
          <p:nvPr/>
        </p:nvSpPr>
        <p:spPr>
          <a:xfrm xmlns:a="http://schemas.openxmlformats.org/drawingml/2006/main">
            <a:off x="62865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E6676"/>
                </a:solidFill>
                <a:latin typeface="Arial"/>
                <a:ea typeface="Arial"/>
                <a:cs typeface="Arial"/>
              </a:defRPr>
            </a:defPPr>
          </a:lstStyle>
          <a:p xmlns:a="http://schemas.openxmlformats.org/drawingml/2006/main">
            <a:pPr>
              <a:defRPr sz="1800" b="0">
                <a:solidFill>
                  <a:srgbClr val="5E6676"/>
                </a:solidFill>
                <a:latin typeface="Arial"/>
                <a:ea typeface="Arial"/>
                <a:cs typeface="Arial"/>
              </a:defRPr>
            </a:pPr>
            <a:r>
              <a:rPr sz="1800" b="0">
                <a:solidFill>
                  <a:srgbClr val="5E6676"/>
                </a:solidFill>
                <a:latin typeface="Arial"/>
                <a:ea typeface="Arial"/>
                <a:cs typeface="Arial"/>
              </a:rPr>
              <a:t>Add a document under a subject.</a:t>
            </a:r>
          </a:p>
        </p:txBody>
      </p:sp>
      <p:sp>
        <p:nvSpPr>
          <p:cNvPr id="4" name="">
            <a:extLst xmlns:a="http://schemas.openxmlformats.org/drawingml/2006/main">
              <a:ext uri="{FF2B5EF4-FFF2-40B4-BE49-F238E27FC236}">
                <a16:creationId xmlns:a16="http://schemas.microsoft.com/office/drawing/2014/main" id="{3E6D096D-8CCC-45EC-AA33-FC7FA50D6D76}"/>
              </a:ext>
            </a:extLst>
          </p:cNvPr>
          <p:cNvSpPr>
            <a:spLocks xmlns:a="http://schemas.openxmlformats.org/drawingml/2006/main" noGrp="1"/>
          </p:cNvSpPr>
          <p:nvPr/>
        </p:nvSpPr>
        <p:spPr>
          <a:xfrm xmlns:a="http://schemas.openxmlformats.org/drawingml/2006/main">
            <a:off x="628650" y="27432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157D5"/>
                </a:solidFill>
                <a:latin typeface="Arial"/>
                <a:ea typeface="Arial"/>
                <a:cs typeface="Arial"/>
              </a:defRPr>
            </a:defPPr>
          </a:lstStyle>
          <a:p xmlns:a="http://schemas.openxmlformats.org/drawingml/2006/main">
            <a:pPr>
              <a:defRPr sz="2325" b="1">
                <a:solidFill>
                  <a:srgbClr val="3157D5"/>
                </a:solidFill>
                <a:latin typeface="Arial"/>
                <a:ea typeface="Arial"/>
                <a:cs typeface="Arial"/>
              </a:defRPr>
            </a:pPr>
            <a:r>
              <a:rPr sz="2325" b="1">
                <a:solidFill>
                  <a:srgbClr val="3157D5"/>
                </a:solidFill>
                <a:latin typeface="Arial"/>
                <a:ea typeface="Arial"/>
                <a:cs typeface="Arial"/>
              </a:rPr>
              <a:t>Understand</a:t>
            </a:r>
          </a:p>
        </p:txBody>
      </p:sp>
      <p:sp>
        <p:nvSpPr>
          <p:cNvPr id="5" name="">
            <a:extLst xmlns:a="http://schemas.openxmlformats.org/drawingml/2006/main">
              <a:ext uri="{FF2B5EF4-FFF2-40B4-BE49-F238E27FC236}">
                <a16:creationId xmlns:a16="http://schemas.microsoft.com/office/drawing/2014/main" id="{A29EF345-521B-48D5-9800-0BAD8FD320B7}"/>
              </a:ext>
            </a:extLst>
          </p:cNvPr>
          <p:cNvSpPr>
            <a:spLocks xmlns:a="http://schemas.openxmlformats.org/drawingml/2006/main" noGrp="1"/>
          </p:cNvSpPr>
          <p:nvPr/>
        </p:nvSpPr>
        <p:spPr>
          <a:xfrm xmlns:a="http://schemas.openxmlformats.org/drawingml/2006/main">
            <a:off x="628650" y="31623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E6676"/>
                </a:solidFill>
                <a:latin typeface="Arial"/>
                <a:ea typeface="Arial"/>
                <a:cs typeface="Arial"/>
              </a:defRPr>
            </a:defPPr>
          </a:lstStyle>
          <a:p xmlns:a="http://schemas.openxmlformats.org/drawingml/2006/main">
            <a:pPr>
              <a:defRPr sz="1800" b="0">
                <a:solidFill>
                  <a:srgbClr val="5E6676"/>
                </a:solidFill>
                <a:latin typeface="Arial"/>
                <a:ea typeface="Arial"/>
                <a:cs typeface="Arial"/>
              </a:defRPr>
            </a:pPr>
            <a:r>
              <a:rPr sz="1800" b="0">
                <a:solidFill>
                  <a:srgbClr val="5E6676"/>
                </a:solidFill>
                <a:latin typeface="Arial"/>
                <a:ea typeface="Arial"/>
                <a:cs typeface="Arial"/>
              </a:rPr>
              <a:t>Extract passages and supported concepts.</a:t>
            </a:r>
          </a:p>
        </p:txBody>
      </p:sp>
      <p:sp>
        <p:nvSpPr>
          <p:cNvPr id="6" name="">
            <a:extLst xmlns:a="http://schemas.openxmlformats.org/drawingml/2006/main">
              <a:ext uri="{FF2B5EF4-FFF2-40B4-BE49-F238E27FC236}">
                <a16:creationId xmlns:a16="http://schemas.microsoft.com/office/drawing/2014/main" id="{D3C54427-9D14-45E3-B391-792CE3FFB99E}"/>
              </a:ext>
            </a:extLst>
          </p:cNvPr>
          <p:cNvSpPr>
            <a:spLocks xmlns:a="http://schemas.openxmlformats.org/drawingml/2006/main" noGrp="1"/>
          </p:cNvSpPr>
          <p:nvPr/>
        </p:nvSpPr>
        <p:spPr>
          <a:xfrm xmlns:a="http://schemas.openxmlformats.org/drawingml/2006/main">
            <a:off x="628650" y="38290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157D5"/>
                </a:solidFill>
                <a:latin typeface="Arial"/>
                <a:ea typeface="Arial"/>
                <a:cs typeface="Arial"/>
              </a:defRPr>
            </a:defPPr>
          </a:lstStyle>
          <a:p xmlns:a="http://schemas.openxmlformats.org/drawingml/2006/main">
            <a:pPr>
              <a:defRPr sz="2325" b="1">
                <a:solidFill>
                  <a:srgbClr val="3157D5"/>
                </a:solidFill>
                <a:latin typeface="Arial"/>
                <a:ea typeface="Arial"/>
                <a:cs typeface="Arial"/>
              </a:defRPr>
            </a:pPr>
            <a:r>
              <a:rPr sz="2325" b="1">
                <a:solidFill>
                  <a:srgbClr val="3157D5"/>
                </a:solidFill>
                <a:latin typeface="Arial"/>
                <a:ea typeface="Arial"/>
                <a:cs typeface="Arial"/>
              </a:rPr>
              <a:t>Practice</a:t>
            </a:r>
          </a:p>
        </p:txBody>
      </p:sp>
      <p:sp>
        <p:nvSpPr>
          <p:cNvPr id="7" name="">
            <a:extLst xmlns:a="http://schemas.openxmlformats.org/drawingml/2006/main">
              <a:ext uri="{FF2B5EF4-FFF2-40B4-BE49-F238E27FC236}">
                <a16:creationId xmlns:a16="http://schemas.microsoft.com/office/drawing/2014/main" id="{AA687E73-1094-4C91-909E-3D88E13D10CE}"/>
              </a:ext>
            </a:extLst>
          </p:cNvPr>
          <p:cNvSpPr>
            <a:spLocks xmlns:a="http://schemas.openxmlformats.org/drawingml/2006/main" noGrp="1"/>
          </p:cNvSpPr>
          <p:nvPr/>
        </p:nvSpPr>
        <p:spPr>
          <a:xfrm xmlns:a="http://schemas.openxmlformats.org/drawingml/2006/main">
            <a:off x="628650" y="42481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E6676"/>
                </a:solidFill>
                <a:latin typeface="Arial"/>
                <a:ea typeface="Arial"/>
                <a:cs typeface="Arial"/>
              </a:defRPr>
            </a:defPPr>
          </a:lstStyle>
          <a:p xmlns:a="http://schemas.openxmlformats.org/drawingml/2006/main">
            <a:pPr>
              <a:defRPr sz="1800" b="0">
                <a:solidFill>
                  <a:srgbClr val="5E6676"/>
                </a:solidFill>
                <a:latin typeface="Arial"/>
                <a:ea typeface="Arial"/>
                <a:cs typeface="Arial"/>
              </a:defRPr>
            </a:pPr>
            <a:r>
              <a:rPr sz="1800" b="0">
                <a:solidFill>
                  <a:srgbClr val="5E6676"/>
                </a:solidFill>
                <a:latin typeface="Arial"/>
                <a:ea typeface="Arial"/>
                <a:cs typeface="Arial"/>
              </a:rPr>
              <a:t>Try viva questions, flashcards, or quizzes.</a:t>
            </a:r>
          </a:p>
        </p:txBody>
      </p:sp>
      <p:sp>
        <p:nvSpPr>
          <p:cNvPr id="8" name="">
            <a:extLst xmlns:a="http://schemas.openxmlformats.org/drawingml/2006/main">
              <a:ext uri="{FF2B5EF4-FFF2-40B4-BE49-F238E27FC236}">
                <a16:creationId xmlns:a16="http://schemas.microsoft.com/office/drawing/2014/main" id="{42D0A31E-EB43-4D0C-B8B5-A8C40B8AAF41}"/>
              </a:ext>
            </a:extLst>
          </p:cNvPr>
          <p:cNvSpPr>
            <a:spLocks xmlns:a="http://schemas.openxmlformats.org/drawingml/2006/main" noGrp="1"/>
          </p:cNvSpPr>
          <p:nvPr/>
        </p:nvSpPr>
        <p:spPr>
          <a:xfrm xmlns:a="http://schemas.openxmlformats.org/drawingml/2006/main">
            <a:off x="628650" y="49149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157D5"/>
                </a:solidFill>
                <a:latin typeface="Arial"/>
                <a:ea typeface="Arial"/>
                <a:cs typeface="Arial"/>
              </a:defRPr>
            </a:defPPr>
          </a:lstStyle>
          <a:p xmlns:a="http://schemas.openxmlformats.org/drawingml/2006/main">
            <a:pPr>
              <a:defRPr sz="2325" b="1">
                <a:solidFill>
                  <a:srgbClr val="3157D5"/>
                </a:solidFill>
                <a:latin typeface="Arial"/>
                <a:ea typeface="Arial"/>
                <a:cs typeface="Arial"/>
              </a:defRPr>
            </a:pPr>
            <a:r>
              <a:rPr sz="2325" b="1">
                <a:solidFill>
                  <a:srgbClr val="3157D5"/>
                </a:solidFill>
                <a:latin typeface="Arial"/>
                <a:ea typeface="Arial"/>
                <a:cs typeface="Arial"/>
              </a:rPr>
              <a:t>Review</a:t>
            </a:r>
          </a:p>
        </p:txBody>
      </p:sp>
      <p:sp>
        <p:nvSpPr>
          <p:cNvPr id="9" name="">
            <a:extLst xmlns:a="http://schemas.openxmlformats.org/drawingml/2006/main">
              <a:ext uri="{FF2B5EF4-FFF2-40B4-BE49-F238E27FC236}">
                <a16:creationId xmlns:a16="http://schemas.microsoft.com/office/drawing/2014/main" id="{1824E602-5A4F-4025-AFB4-004D427CC9E1}"/>
              </a:ext>
            </a:extLst>
          </p:cNvPr>
          <p:cNvSpPr>
            <a:spLocks xmlns:a="http://schemas.openxmlformats.org/drawingml/2006/main" noGrp="1"/>
          </p:cNvSpPr>
          <p:nvPr/>
        </p:nvSpPr>
        <p:spPr>
          <a:xfrm xmlns:a="http://schemas.openxmlformats.org/drawingml/2006/main">
            <a:off x="628650" y="53340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E6676"/>
                </a:solidFill>
                <a:latin typeface="Arial"/>
                <a:ea typeface="Arial"/>
                <a:cs typeface="Arial"/>
              </a:defRPr>
            </a:defPPr>
          </a:lstStyle>
          <a:p xmlns:a="http://schemas.openxmlformats.org/drawingml/2006/main">
            <a:pPr>
              <a:defRPr sz="1800" b="0">
                <a:solidFill>
                  <a:srgbClr val="5E6676"/>
                </a:solidFill>
                <a:latin typeface="Arial"/>
                <a:ea typeface="Arial"/>
                <a:cs typeface="Arial"/>
              </a:defRPr>
            </a:pPr>
            <a:r>
              <a:rPr sz="1800" b="0">
                <a:solidFill>
                  <a:srgbClr val="5E6676"/>
                </a:solidFill>
                <a:latin typeface="Arial"/>
                <a:ea typeface="Arial"/>
                <a:cs typeface="Arial"/>
              </a:rPr>
              <a:t>Return to gaps using revision and mastery.</a:t>
            </a:r>
          </a:p>
        </p:txBody>
      </p:sp>
      <p:pic>
        <p:nvPicPr>
          <p:cNvPr id="10" name="">
            <a:extLst xmlns:a="http://schemas.openxmlformats.org/drawingml/2006/main">
              <a:ext uri="{FF2B5EF4-FFF2-40B4-BE49-F238E27FC236}">
                <a16:creationId xmlns:a16="http://schemas.microsoft.com/office/drawing/2014/main" id="{6C3085C3-E6FF-4D82-862B-AF9C12914EEA}"/>
              </a:ext>
            </a:extLst>
          </p:cNvPr>
          <p:cNvPicPr>
            <a:picLocks xmlns:a="http://schemas.openxmlformats.org/drawingml/2006/main" noChangeAspect="1"/>
          </p:cNvPicPr>
          <p:nvPr/>
        </p:nvPicPr>
        <p:blipFill>
          <a:blip xmlns:r="http://schemas.openxmlformats.org/officeDocument/2006/relationships" xmlns:a="http://schemas.openxmlformats.org/drawingml/2006/main" r:embed="R1889049ff8ae4370"/>
          <a:stretch xmlns:a="http://schemas.openxmlformats.org/drawingml/2006/main"/>
        </p:blipFill>
        <p:spPr>
          <a:xfrm xmlns:a="http://schemas.openxmlformats.org/drawingml/2006/main">
            <a:off x="6057900" y="1894284"/>
            <a:ext cx="5524500" cy="3107531"/>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920025D-955D-466E-A83A-505036F49566}"/>
              </a:ext>
            </a:extLst>
          </p:cNvPr>
          <p:cNvSpPr>
            <a:spLocks xmlns:a="http://schemas.openxmlformats.org/drawingml/2006/main" noGrp="1"/>
          </p:cNvSpPr>
          <p:nvPr/>
        </p:nvSpPr>
        <p:spPr>
          <a:xfrm xmlns:a="http://schemas.openxmlformats.org/drawingml/2006/main">
            <a:off x="6334125" y="54768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E6676"/>
                </a:solidFill>
                <a:latin typeface="Arial"/>
                <a:ea typeface="Arial"/>
                <a:cs typeface="Arial"/>
              </a:defRPr>
            </a:defPPr>
          </a:lstStyle>
          <a:p xmlns:a="http://schemas.openxmlformats.org/drawingml/2006/main">
            <a:pPr>
              <a:defRPr sz="1425" b="0">
                <a:solidFill>
                  <a:srgbClr val="5E6676"/>
                </a:solidFill>
                <a:latin typeface="Arial"/>
                <a:ea typeface="Arial"/>
                <a:cs typeface="Arial"/>
              </a:defRPr>
            </a:pPr>
            <a:r>
              <a:rPr sz="1425" b="0">
                <a:solidFill>
                  <a:srgbClr val="5E6676"/>
                </a:solidFill>
                <a:latin typeface="Arial"/>
                <a:ea typeface="Arial"/>
                <a:cs typeface="Arial"/>
              </a:rPr>
              <a:t>Actual app onboarding, dark mode</a:t>
            </a:r>
          </a:p>
        </p:txBody>
      </p:sp>
    </p:spTree>
    <p:extLst>
      <p:ext uri="{BB962C8B-B14F-4D97-AF65-F5344CB8AC3E}">
        <p14:creationId xmlns:p14="http://schemas.microsoft.com/office/powerpoint/2010/main" val="1444546355"/>
      </p:ext>
    </p:extLst>
  </p:cSld>
</p:sld>
</file>

<file path=ppt/slides/slide3.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C7E39EA-BEC2-44C2-9312-5204AFC0A896}"/>
              </a:ext>
            </a:extLst>
          </p:cNvPr>
          <p:cNvSpPr>
            <a:spLocks xmlns:a="http://schemas.openxmlformats.org/drawingml/2006/main" noGrp="1"/>
          </p:cNvSpPr>
          <p:nvPr/>
        </p:nvSpPr>
        <p:spPr>
          <a:xfrm xmlns:a="http://schemas.openxmlformats.org/drawingml/2006/main">
            <a:off x="609600" y="42862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92033"/>
                </a:solidFill>
                <a:latin typeface="Arial"/>
                <a:ea typeface="Arial"/>
                <a:cs typeface="Arial"/>
              </a:defRPr>
            </a:defPPr>
          </a:lstStyle>
          <a:p xmlns:a="http://schemas.openxmlformats.org/drawingml/2006/main">
            <a:pPr>
              <a:defRPr sz="3600" b="1">
                <a:solidFill>
                  <a:srgbClr val="192033"/>
                </a:solidFill>
                <a:latin typeface="Arial"/>
                <a:ea typeface="Arial"/>
                <a:cs typeface="Arial"/>
              </a:defRPr>
            </a:pPr>
            <a:r>
              <a:rPr sz="3600" b="1">
                <a:solidFill>
                  <a:srgbClr val="192033"/>
                </a:solidFill>
                <a:latin typeface="Arial"/>
                <a:ea typeface="Arial"/>
                <a:cs typeface="Arial"/>
              </a:rPr>
              <a:t>A dedicated AI conversation space</a:t>
            </a:r>
          </a:p>
        </p:txBody>
      </p:sp>
      <p:sp>
        <p:nvSpPr>
          <p:cNvPr id="2" name="">
            <a:extLst xmlns:a="http://schemas.openxmlformats.org/drawingml/2006/main">
              <a:ext uri="{FF2B5EF4-FFF2-40B4-BE49-F238E27FC236}">
                <a16:creationId xmlns:a16="http://schemas.microsoft.com/office/drawing/2014/main" id="{C07B13CB-B767-475D-B824-BBE92803A5E9}"/>
              </a:ext>
            </a:extLst>
          </p:cNvPr>
          <p:cNvSpPr>
            <a:spLocks xmlns:a="http://schemas.openxmlformats.org/drawingml/2006/main" noGrp="1"/>
          </p:cNvSpPr>
          <p:nvPr/>
        </p:nvSpPr>
        <p:spPr>
          <a:xfrm xmlns:a="http://schemas.openxmlformats.org/drawingml/2006/main">
            <a:off x="628650" y="1190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E6676"/>
                </a:solidFill>
                <a:latin typeface="Arial"/>
                <a:ea typeface="Arial"/>
                <a:cs typeface="Arial"/>
              </a:defRPr>
            </a:defPPr>
          </a:lstStyle>
          <a:p xmlns:a="http://schemas.openxmlformats.org/drawingml/2006/main">
            <a:pPr>
              <a:defRPr sz="1950" b="0">
                <a:solidFill>
                  <a:srgbClr val="5E6676"/>
                </a:solidFill>
                <a:latin typeface="Arial"/>
                <a:ea typeface="Arial"/>
                <a:cs typeface="Arial"/>
              </a:defRPr>
            </a:pPr>
            <a:r>
              <a:rPr sz="1950" b="0">
                <a:solidFill>
                  <a:srgbClr val="5E6676"/>
                </a:solidFill>
                <a:latin typeface="Arial"/>
                <a:ea typeface="Arial"/>
                <a:cs typeface="Arial"/>
              </a:rPr>
              <a:t>General questions or context from a selected subject</a:t>
            </a:r>
          </a:p>
        </p:txBody>
      </p:sp>
      <p:pic>
        <p:nvPicPr>
          <p:cNvPr id="3" name="">
            <a:extLst xmlns:a="http://schemas.openxmlformats.org/drawingml/2006/main">
              <a:ext uri="{FF2B5EF4-FFF2-40B4-BE49-F238E27FC236}">
                <a16:creationId xmlns:a16="http://schemas.microsoft.com/office/drawing/2014/main" id="{014F3BB3-918B-45C2-8EAE-64F159E4995D}"/>
              </a:ext>
            </a:extLst>
          </p:cNvPr>
          <p:cNvPicPr>
            <a:picLocks xmlns:a="http://schemas.openxmlformats.org/drawingml/2006/main" noChangeAspect="1"/>
          </p:cNvPicPr>
          <p:nvPr/>
        </p:nvPicPr>
        <p:blipFill>
          <a:blip xmlns:r="http://schemas.openxmlformats.org/officeDocument/2006/relationships" xmlns:a="http://schemas.openxmlformats.org/drawingml/2006/main" r:embed="Rc678817f73844490"/>
          <a:stretch xmlns:a="http://schemas.openxmlformats.org/drawingml/2006/main"/>
        </p:blipFill>
        <p:spPr>
          <a:xfrm xmlns:a="http://schemas.openxmlformats.org/drawingml/2006/main">
            <a:off x="2636520" y="1943100"/>
            <a:ext cx="6918960" cy="4324350"/>
          </a:xfrm>
          <a:prstGeom xmlns:a="http://schemas.openxmlformats.org/drawingml/2006/main" prst="rect">
            <a:avLst/>
          </a:prstGeom>
        </p:spPr>
      </p:pic>
    </p:spTree>
    <p:extLst>
      <p:ext uri="{BB962C8B-B14F-4D97-AF65-F5344CB8AC3E}">
        <p14:creationId xmlns:p14="http://schemas.microsoft.com/office/powerpoint/2010/main" val="756224835"/>
      </p:ext>
    </p:extLst>
  </p:cSld>
</p:sld>
</file>

<file path=ppt/slides/slide4.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1ED5E1-5B62-4E53-96E0-2AA7EC03041C}"/>
              </a:ext>
            </a:extLst>
          </p:cNvPr>
          <p:cNvSpPr>
            <a:spLocks xmlns:a="http://schemas.openxmlformats.org/drawingml/2006/main" noGrp="1"/>
          </p:cNvSpPr>
          <p:nvPr/>
        </p:nvSpPr>
        <p:spPr>
          <a:xfrm xmlns:a="http://schemas.openxmlformats.org/drawingml/2006/main">
            <a:off x="609600" y="590550"/>
            <a:ext cx="685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92033"/>
                </a:solidFill>
                <a:latin typeface="Arial"/>
                <a:ea typeface="Arial"/>
                <a:cs typeface="Arial"/>
              </a:defRPr>
            </a:defPPr>
          </a:lstStyle>
          <a:p xmlns:a="http://schemas.openxmlformats.org/drawingml/2006/main">
            <a:pPr>
              <a:defRPr sz="3600" b="1">
                <a:solidFill>
                  <a:srgbClr val="192033"/>
                </a:solidFill>
                <a:latin typeface="Arial"/>
                <a:ea typeface="Arial"/>
                <a:cs typeface="Arial"/>
              </a:defRPr>
            </a:pPr>
            <a:r>
              <a:rPr sz="3600" b="1">
                <a:solidFill>
                  <a:srgbClr val="192033"/>
                </a:solidFill>
                <a:latin typeface="Arial"/>
                <a:ea typeface="Arial"/>
                <a:cs typeface="Arial"/>
              </a:rPr>
              <a:t>A conversation you can carry</a:t>
            </a:r>
          </a:p>
        </p:txBody>
      </p:sp>
      <p:sp>
        <p:nvSpPr>
          <p:cNvPr id="2" name="">
            <a:extLst xmlns:a="http://schemas.openxmlformats.org/drawingml/2006/main">
              <a:ext uri="{FF2B5EF4-FFF2-40B4-BE49-F238E27FC236}">
                <a16:creationId xmlns:a16="http://schemas.microsoft.com/office/drawing/2014/main" id="{A62B471D-E909-4DD1-84BF-220CED4E5EB6}"/>
              </a:ext>
            </a:extLst>
          </p:cNvPr>
          <p:cNvSpPr>
            <a:spLocks xmlns:a="http://schemas.openxmlformats.org/drawingml/2006/main" noGrp="1"/>
          </p:cNvSpPr>
          <p:nvPr/>
        </p:nvSpPr>
        <p:spPr>
          <a:xfrm xmlns:a="http://schemas.openxmlformats.org/drawingml/2006/main">
            <a:off x="628650" y="232410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3157D5"/>
                </a:solidFill>
                <a:latin typeface="Arial"/>
                <a:ea typeface="Arial"/>
                <a:cs typeface="Arial"/>
              </a:defRPr>
            </a:defPPr>
          </a:lstStyle>
          <a:p xmlns:a="http://schemas.openxmlformats.org/drawingml/2006/main">
            <a:pPr>
              <a:defRPr sz="2475" b="1">
                <a:solidFill>
                  <a:srgbClr val="3157D5"/>
                </a:solidFill>
                <a:latin typeface="Arial"/>
                <a:ea typeface="Arial"/>
                <a:cs typeface="Arial"/>
              </a:defRPr>
            </a:pPr>
            <a:r>
              <a:rPr sz="2475" b="1">
                <a:solidFill>
                  <a:srgbClr val="3157D5"/>
                </a:solidFill>
                <a:latin typeface="Arial"/>
                <a:ea typeface="Arial"/>
                <a:cs typeface="Arial"/>
              </a:rPr>
              <a:t>General knowledge</a:t>
            </a:r>
          </a:p>
        </p:txBody>
      </p:sp>
      <p:sp>
        <p:nvSpPr>
          <p:cNvPr id="3" name="">
            <a:extLst xmlns:a="http://schemas.openxmlformats.org/drawingml/2006/main">
              <a:ext uri="{FF2B5EF4-FFF2-40B4-BE49-F238E27FC236}">
                <a16:creationId xmlns:a16="http://schemas.microsoft.com/office/drawing/2014/main" id="{D05D532C-69A5-4F55-9BD8-BF527A1426B1}"/>
              </a:ext>
            </a:extLst>
          </p:cNvPr>
          <p:cNvSpPr>
            <a:spLocks xmlns:a="http://schemas.openxmlformats.org/drawingml/2006/main" noGrp="1"/>
          </p:cNvSpPr>
          <p:nvPr/>
        </p:nvSpPr>
        <p:spPr>
          <a:xfrm xmlns:a="http://schemas.openxmlformats.org/drawingml/2006/main">
            <a:off x="628650" y="2876550"/>
            <a:ext cx="5619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E6676"/>
                </a:solidFill>
                <a:latin typeface="Arial"/>
                <a:ea typeface="Arial"/>
                <a:cs typeface="Arial"/>
              </a:defRPr>
            </a:defPPr>
          </a:lstStyle>
          <a:p xmlns:a="http://schemas.openxmlformats.org/drawingml/2006/main">
            <a:pPr>
              <a:defRPr sz="2025" b="0">
                <a:solidFill>
                  <a:srgbClr val="5E6676"/>
                </a:solidFill>
                <a:latin typeface="Arial"/>
                <a:ea typeface="Arial"/>
                <a:cs typeface="Arial"/>
              </a:defRPr>
            </a:pPr>
            <a:r>
              <a:rPr sz="2025" b="0">
                <a:solidFill>
                  <a:srgbClr val="5E6676"/>
                </a:solidFill>
                <a:latin typeface="Arial"/>
                <a:ea typeface="Arial"/>
                <a:cs typeface="Arial"/>
              </a:rPr>
              <a:t>Explore an idea or ask for a step-by-step explanation.</a:t>
            </a:r>
          </a:p>
        </p:txBody>
      </p:sp>
      <p:sp>
        <p:nvSpPr>
          <p:cNvPr id="4" name="">
            <a:extLst xmlns:a="http://schemas.openxmlformats.org/drawingml/2006/main">
              <a:ext uri="{FF2B5EF4-FFF2-40B4-BE49-F238E27FC236}">
                <a16:creationId xmlns:a16="http://schemas.microsoft.com/office/drawing/2014/main" id="{80A997F9-044C-40B1-892D-19CDC907F30C}"/>
              </a:ext>
            </a:extLst>
          </p:cNvPr>
          <p:cNvSpPr>
            <a:spLocks xmlns:a="http://schemas.openxmlformats.org/drawingml/2006/main" noGrp="1"/>
          </p:cNvSpPr>
          <p:nvPr/>
        </p:nvSpPr>
        <p:spPr>
          <a:xfrm xmlns:a="http://schemas.openxmlformats.org/drawingml/2006/main">
            <a:off x="628650" y="410527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3157D5"/>
                </a:solidFill>
                <a:latin typeface="Arial"/>
                <a:ea typeface="Arial"/>
                <a:cs typeface="Arial"/>
              </a:defRPr>
            </a:defPPr>
          </a:lstStyle>
          <a:p xmlns:a="http://schemas.openxmlformats.org/drawingml/2006/main">
            <a:pPr>
              <a:defRPr sz="2475" b="1">
                <a:solidFill>
                  <a:srgbClr val="3157D5"/>
                </a:solidFill>
                <a:latin typeface="Arial"/>
                <a:ea typeface="Arial"/>
                <a:cs typeface="Arial"/>
              </a:defRPr>
            </a:pPr>
            <a:r>
              <a:rPr sz="2475" b="1">
                <a:solidFill>
                  <a:srgbClr val="3157D5"/>
                </a:solidFill>
                <a:latin typeface="Arial"/>
                <a:ea typeface="Arial"/>
                <a:cs typeface="Arial"/>
              </a:rPr>
              <a:t>Your study notes</a:t>
            </a:r>
          </a:p>
        </p:txBody>
      </p:sp>
      <p:sp>
        <p:nvSpPr>
          <p:cNvPr id="5" name="">
            <a:extLst xmlns:a="http://schemas.openxmlformats.org/drawingml/2006/main">
              <a:ext uri="{FF2B5EF4-FFF2-40B4-BE49-F238E27FC236}">
                <a16:creationId xmlns:a16="http://schemas.microsoft.com/office/drawing/2014/main" id="{C9550577-225C-4D0C-AC94-A03FAF671DA2}"/>
              </a:ext>
            </a:extLst>
          </p:cNvPr>
          <p:cNvSpPr>
            <a:spLocks xmlns:a="http://schemas.openxmlformats.org/drawingml/2006/main" noGrp="1"/>
          </p:cNvSpPr>
          <p:nvPr/>
        </p:nvSpPr>
        <p:spPr>
          <a:xfrm xmlns:a="http://schemas.openxmlformats.org/drawingml/2006/main">
            <a:off x="628650" y="4657725"/>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E6676"/>
                </a:solidFill>
                <a:latin typeface="Arial"/>
                <a:ea typeface="Arial"/>
                <a:cs typeface="Arial"/>
              </a:defRPr>
            </a:defPPr>
          </a:lstStyle>
          <a:p xmlns:a="http://schemas.openxmlformats.org/drawingml/2006/main">
            <a:pPr>
              <a:defRPr sz="2025" b="0">
                <a:solidFill>
                  <a:srgbClr val="5E6676"/>
                </a:solidFill>
                <a:latin typeface="Arial"/>
                <a:ea typeface="Arial"/>
                <a:cs typeface="Arial"/>
              </a:defRPr>
            </a:pPr>
            <a:r>
              <a:rPr sz="2025" b="0">
                <a:solidFill>
                  <a:srgbClr val="5E6676"/>
                </a:solidFill>
                <a:latin typeface="Arial"/>
                <a:ea typeface="Arial"/>
                <a:cs typeface="Arial"/>
              </a:rPr>
              <a:t>Choose a subject to bring saved material into the conversation.</a:t>
            </a:r>
          </a:p>
        </p:txBody>
      </p:sp>
      <p:pic>
        <p:nvPicPr>
          <p:cNvPr id="6" name="">
            <a:extLst xmlns:a="http://schemas.openxmlformats.org/drawingml/2006/main">
              <a:ext uri="{FF2B5EF4-FFF2-40B4-BE49-F238E27FC236}">
                <a16:creationId xmlns:a16="http://schemas.microsoft.com/office/drawing/2014/main" id="{0FDEFD32-94B0-411E-A53A-6F45F5522EC3}"/>
              </a:ext>
            </a:extLst>
          </p:cNvPr>
          <p:cNvPicPr>
            <a:picLocks xmlns:a="http://schemas.openxmlformats.org/drawingml/2006/main" noChangeAspect="1"/>
          </p:cNvPicPr>
          <p:nvPr/>
        </p:nvPicPr>
        <p:blipFill>
          <a:blip xmlns:r="http://schemas.openxmlformats.org/officeDocument/2006/relationships" xmlns:a="http://schemas.openxmlformats.org/drawingml/2006/main" r:embed="Rb2bef86d45104fb2"/>
          <a:stretch xmlns:a="http://schemas.openxmlformats.org/drawingml/2006/main"/>
        </p:blipFill>
        <p:spPr>
          <a:xfrm xmlns:a="http://schemas.openxmlformats.org/drawingml/2006/main">
            <a:off x="7848600" y="451148"/>
            <a:ext cx="3619500" cy="5860454"/>
          </a:xfrm>
          <a:prstGeom xmlns:a="http://schemas.openxmlformats.org/drawingml/2006/main" prst="rect">
            <a:avLst/>
          </a:prstGeom>
        </p:spPr>
      </p:pic>
    </p:spTree>
    <p:extLst>
      <p:ext uri="{BB962C8B-B14F-4D97-AF65-F5344CB8AC3E}">
        <p14:creationId xmlns:p14="http://schemas.microsoft.com/office/powerpoint/2010/main" val="362923997"/>
      </p:ext>
    </p:extLst>
  </p:cSld>
</p:sld>
</file>

<file path=ppt/slides/slide5.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A5E4CF-AD14-4A30-B36D-FF05105D9049}"/>
              </a:ext>
            </a:extLst>
          </p:cNvPr>
          <p:cNvSpPr>
            <a:spLocks xmlns:a="http://schemas.openxmlformats.org/drawingml/2006/main" noGrp="1"/>
          </p:cNvSpPr>
          <p:nvPr/>
        </p:nvSpPr>
        <p:spPr>
          <a:xfrm xmlns:a="http://schemas.openxmlformats.org/drawingml/2006/main">
            <a:off x="609600" y="4762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92033"/>
                </a:solidFill>
                <a:latin typeface="Arial"/>
                <a:ea typeface="Arial"/>
                <a:cs typeface="Arial"/>
              </a:defRPr>
            </a:defPPr>
          </a:lstStyle>
          <a:p xmlns:a="http://schemas.openxmlformats.org/drawingml/2006/main">
            <a:pPr>
              <a:defRPr sz="3600" b="1">
                <a:solidFill>
                  <a:srgbClr val="192033"/>
                </a:solidFill>
                <a:latin typeface="Arial"/>
                <a:ea typeface="Arial"/>
                <a:cs typeface="Arial"/>
              </a:defRPr>
            </a:pPr>
            <a:r>
              <a:rPr sz="3600" b="1">
                <a:solidFill>
                  <a:srgbClr val="192033"/>
                </a:solidFill>
                <a:latin typeface="Arial"/>
                <a:ea typeface="Arial"/>
                <a:cs typeface="Arial"/>
              </a:rPr>
              <a:t>The technology behind ViaX</a:t>
            </a:r>
          </a:p>
        </p:txBody>
      </p:sp>
      <p:sp>
        <p:nvSpPr>
          <p:cNvPr id="2" name="">
            <a:extLst xmlns:a="http://schemas.openxmlformats.org/drawingml/2006/main">
              <a:ext uri="{FF2B5EF4-FFF2-40B4-BE49-F238E27FC236}">
                <a16:creationId xmlns:a16="http://schemas.microsoft.com/office/drawing/2014/main" id="{1EBD91D3-A96A-41CC-98A1-445ACFC36FFC}"/>
              </a:ext>
            </a:extLst>
          </p:cNvPr>
          <p:cNvSpPr>
            <a:spLocks xmlns:a="http://schemas.openxmlformats.org/drawingml/2006/main" noGrp="1"/>
          </p:cNvSpPr>
          <p:nvPr/>
        </p:nvSpPr>
        <p:spPr>
          <a:xfrm xmlns:a="http://schemas.openxmlformats.org/drawingml/2006/main">
            <a:off x="628650" y="176212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157D5"/>
                </a:solidFill>
                <a:latin typeface="Arial"/>
                <a:ea typeface="Arial"/>
                <a:cs typeface="Arial"/>
              </a:defRPr>
            </a:defPPr>
          </a:lstStyle>
          <a:p xmlns:a="http://schemas.openxmlformats.org/drawingml/2006/main">
            <a:pPr>
              <a:defRPr sz="2325" b="1">
                <a:solidFill>
                  <a:srgbClr val="3157D5"/>
                </a:solidFill>
                <a:latin typeface="Arial"/>
                <a:ea typeface="Arial"/>
                <a:cs typeface="Arial"/>
              </a:defRPr>
            </a:pPr>
            <a:r>
              <a:rPr sz="2325" b="1">
                <a:solidFill>
                  <a:srgbClr val="3157D5"/>
                </a:solidFill>
                <a:latin typeface="Arial"/>
                <a:ea typeface="Arial"/>
                <a:cs typeface="Arial"/>
              </a:rPr>
              <a:t>Flutter</a:t>
            </a:r>
          </a:p>
        </p:txBody>
      </p:sp>
      <p:sp>
        <p:nvSpPr>
          <p:cNvPr id="3" name="">
            <a:extLst xmlns:a="http://schemas.openxmlformats.org/drawingml/2006/main">
              <a:ext uri="{FF2B5EF4-FFF2-40B4-BE49-F238E27FC236}">
                <a16:creationId xmlns:a16="http://schemas.microsoft.com/office/drawing/2014/main" id="{AB6C7F82-615D-4C9F-BA7D-16BA11C4C62F}"/>
              </a:ext>
            </a:extLst>
          </p:cNvPr>
          <p:cNvSpPr>
            <a:spLocks xmlns:a="http://schemas.openxmlformats.org/drawingml/2006/main" noGrp="1"/>
          </p:cNvSpPr>
          <p:nvPr/>
        </p:nvSpPr>
        <p:spPr>
          <a:xfrm xmlns:a="http://schemas.openxmlformats.org/drawingml/2006/main">
            <a:off x="3505200" y="17621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2033"/>
                </a:solidFill>
                <a:latin typeface="Arial"/>
                <a:ea typeface="Arial"/>
                <a:cs typeface="Arial"/>
              </a:defRPr>
            </a:defPPr>
          </a:lstStyle>
          <a:p xmlns:a="http://schemas.openxmlformats.org/drawingml/2006/main">
            <a:pPr>
              <a:defRPr sz="2025" b="0">
                <a:solidFill>
                  <a:srgbClr val="192033"/>
                </a:solidFill>
                <a:latin typeface="Arial"/>
                <a:ea typeface="Arial"/>
                <a:cs typeface="Arial"/>
              </a:defRPr>
            </a:pPr>
            <a:r>
              <a:rPr sz="2025" b="0">
                <a:solidFill>
                  <a:srgbClr val="192033"/>
                </a:solidFill>
                <a:latin typeface="Arial"/>
                <a:ea typeface="Arial"/>
                <a:cs typeface="Arial"/>
              </a:rPr>
              <a:t>Responsive application for web and mobile.</a:t>
            </a:r>
          </a:p>
        </p:txBody>
      </p:sp>
      <p:sp>
        <p:nvSpPr>
          <p:cNvPr id="4" name="">
            <a:extLst xmlns:a="http://schemas.openxmlformats.org/drawingml/2006/main">
              <a:ext uri="{FF2B5EF4-FFF2-40B4-BE49-F238E27FC236}">
                <a16:creationId xmlns:a16="http://schemas.microsoft.com/office/drawing/2014/main" id="{0449AEEE-20D9-49E4-84F4-EAF48E4D1B31}"/>
              </a:ext>
            </a:extLst>
          </p:cNvPr>
          <p:cNvSpPr>
            <a:spLocks xmlns:a="http://schemas.openxmlformats.org/drawingml/2006/main" noGrp="1"/>
          </p:cNvSpPr>
          <p:nvPr/>
        </p:nvSpPr>
        <p:spPr>
          <a:xfrm xmlns:a="http://schemas.openxmlformats.org/drawingml/2006/main">
            <a:off x="628650" y="283845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157D5"/>
                </a:solidFill>
                <a:latin typeface="Arial"/>
                <a:ea typeface="Arial"/>
                <a:cs typeface="Arial"/>
              </a:defRPr>
            </a:defPPr>
          </a:lstStyle>
          <a:p xmlns:a="http://schemas.openxmlformats.org/drawingml/2006/main">
            <a:pPr>
              <a:defRPr sz="2325" b="1">
                <a:solidFill>
                  <a:srgbClr val="3157D5"/>
                </a:solidFill>
                <a:latin typeface="Arial"/>
                <a:ea typeface="Arial"/>
                <a:cs typeface="Arial"/>
              </a:defRPr>
            </a:pPr>
            <a:r>
              <a:rPr sz="2325" b="1">
                <a:solidFill>
                  <a:srgbClr val="3157D5"/>
                </a:solidFill>
                <a:latin typeface="Arial"/>
                <a:ea typeface="Arial"/>
                <a:cs typeface="Arial"/>
              </a:rPr>
              <a:t>Supabase</a:t>
            </a:r>
          </a:p>
        </p:txBody>
      </p:sp>
      <p:sp>
        <p:nvSpPr>
          <p:cNvPr id="5" name="">
            <a:extLst xmlns:a="http://schemas.openxmlformats.org/drawingml/2006/main">
              <a:ext uri="{FF2B5EF4-FFF2-40B4-BE49-F238E27FC236}">
                <a16:creationId xmlns:a16="http://schemas.microsoft.com/office/drawing/2014/main" id="{F6592C87-9C17-4AFC-8047-CB242C25271C}"/>
              </a:ext>
            </a:extLst>
          </p:cNvPr>
          <p:cNvSpPr>
            <a:spLocks xmlns:a="http://schemas.openxmlformats.org/drawingml/2006/main" noGrp="1"/>
          </p:cNvSpPr>
          <p:nvPr/>
        </p:nvSpPr>
        <p:spPr>
          <a:xfrm xmlns:a="http://schemas.openxmlformats.org/drawingml/2006/main">
            <a:off x="3505200" y="2838450"/>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2033"/>
                </a:solidFill>
                <a:latin typeface="Arial"/>
                <a:ea typeface="Arial"/>
                <a:cs typeface="Arial"/>
              </a:defRPr>
            </a:defPPr>
          </a:lstStyle>
          <a:p xmlns:a="http://schemas.openxmlformats.org/drawingml/2006/main">
            <a:pPr>
              <a:defRPr sz="2025" b="0">
                <a:solidFill>
                  <a:srgbClr val="192033"/>
                </a:solidFill>
                <a:latin typeface="Arial"/>
                <a:ea typeface="Arial"/>
                <a:cs typeface="Arial"/>
              </a:defRPr>
            </a:pPr>
            <a:r>
              <a:rPr sz="2025" b="0">
                <a:solidFill>
                  <a:srgbClr val="192033"/>
                </a:solidFill>
                <a:latin typeface="Arial"/>
                <a:ea typeface="Arial"/>
                <a:cs typeface="Arial"/>
              </a:rPr>
              <a:t>Authentication, private document storage, database and Edge Functions.</a:t>
            </a:r>
          </a:p>
        </p:txBody>
      </p:sp>
      <p:sp>
        <p:nvSpPr>
          <p:cNvPr id="6" name="">
            <a:extLst xmlns:a="http://schemas.openxmlformats.org/drawingml/2006/main">
              <a:ext uri="{FF2B5EF4-FFF2-40B4-BE49-F238E27FC236}">
                <a16:creationId xmlns:a16="http://schemas.microsoft.com/office/drawing/2014/main" id="{117268BC-1651-4D50-8B39-B6D9C7069284}"/>
              </a:ext>
            </a:extLst>
          </p:cNvPr>
          <p:cNvSpPr>
            <a:spLocks xmlns:a="http://schemas.openxmlformats.org/drawingml/2006/main" noGrp="1"/>
          </p:cNvSpPr>
          <p:nvPr/>
        </p:nvSpPr>
        <p:spPr>
          <a:xfrm xmlns:a="http://schemas.openxmlformats.org/drawingml/2006/main">
            <a:off x="628650" y="39147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157D5"/>
                </a:solidFill>
                <a:latin typeface="Arial"/>
                <a:ea typeface="Arial"/>
                <a:cs typeface="Arial"/>
              </a:defRPr>
            </a:defPPr>
          </a:lstStyle>
          <a:p xmlns:a="http://schemas.openxmlformats.org/drawingml/2006/main">
            <a:pPr>
              <a:defRPr sz="2325" b="1">
                <a:solidFill>
                  <a:srgbClr val="3157D5"/>
                </a:solidFill>
                <a:latin typeface="Arial"/>
                <a:ea typeface="Arial"/>
                <a:cs typeface="Arial"/>
              </a:defRPr>
            </a:pPr>
            <a:r>
              <a:rPr sz="2325" b="1">
                <a:solidFill>
                  <a:srgbClr val="3157D5"/>
                </a:solidFill>
                <a:latin typeface="Arial"/>
                <a:ea typeface="Arial"/>
                <a:cs typeface="Arial"/>
              </a:rPr>
              <a:t>NVIDIA</a:t>
            </a:r>
          </a:p>
        </p:txBody>
      </p:sp>
      <p:sp>
        <p:nvSpPr>
          <p:cNvPr id="7" name="">
            <a:extLst xmlns:a="http://schemas.openxmlformats.org/drawingml/2006/main">
              <a:ext uri="{FF2B5EF4-FFF2-40B4-BE49-F238E27FC236}">
                <a16:creationId xmlns:a16="http://schemas.microsoft.com/office/drawing/2014/main" id="{23026C51-BF84-419A-92A7-827AA3910DDE}"/>
              </a:ext>
            </a:extLst>
          </p:cNvPr>
          <p:cNvSpPr>
            <a:spLocks xmlns:a="http://schemas.openxmlformats.org/drawingml/2006/main" noGrp="1"/>
          </p:cNvSpPr>
          <p:nvPr/>
        </p:nvSpPr>
        <p:spPr>
          <a:xfrm xmlns:a="http://schemas.openxmlformats.org/drawingml/2006/main">
            <a:off x="3505200" y="39147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2033"/>
                </a:solidFill>
                <a:latin typeface="Arial"/>
                <a:ea typeface="Arial"/>
                <a:cs typeface="Arial"/>
              </a:defRPr>
            </a:defPPr>
          </a:lstStyle>
          <a:p xmlns:a="http://schemas.openxmlformats.org/drawingml/2006/main">
            <a:pPr>
              <a:defRPr sz="2025" b="0">
                <a:solidFill>
                  <a:srgbClr val="192033"/>
                </a:solidFill>
                <a:latin typeface="Arial"/>
                <a:ea typeface="Arial"/>
                <a:cs typeface="Arial"/>
              </a:defRPr>
            </a:pPr>
            <a:r>
              <a:rPr sz="2025" b="0">
                <a:solidFill>
                  <a:srgbClr val="192033"/>
                </a:solidFill>
                <a:latin typeface="Arial"/>
                <a:ea typeface="Arial"/>
                <a:cs typeface="Arial"/>
              </a:rPr>
              <a:t>Chat generation and 1024-dimension document and query embeddings.</a:t>
            </a:r>
          </a:p>
        </p:txBody>
      </p:sp>
      <p:sp>
        <p:nvSpPr>
          <p:cNvPr id="8" name="">
            <a:extLst xmlns:a="http://schemas.openxmlformats.org/drawingml/2006/main">
              <a:ext uri="{FF2B5EF4-FFF2-40B4-BE49-F238E27FC236}">
                <a16:creationId xmlns:a16="http://schemas.microsoft.com/office/drawing/2014/main" id="{FD6C4A08-D1FC-4551-91A2-1FCB9623BDD7}"/>
              </a:ext>
            </a:extLst>
          </p:cNvPr>
          <p:cNvSpPr>
            <a:spLocks xmlns:a="http://schemas.openxmlformats.org/drawingml/2006/main" noGrp="1"/>
          </p:cNvSpPr>
          <p:nvPr/>
        </p:nvSpPr>
        <p:spPr>
          <a:xfrm xmlns:a="http://schemas.openxmlformats.org/drawingml/2006/main">
            <a:off x="628650" y="499110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157D5"/>
                </a:solidFill>
                <a:latin typeface="Arial"/>
                <a:ea typeface="Arial"/>
                <a:cs typeface="Arial"/>
              </a:defRPr>
            </a:defPPr>
          </a:lstStyle>
          <a:p xmlns:a="http://schemas.openxmlformats.org/drawingml/2006/main">
            <a:pPr>
              <a:defRPr sz="2325" b="1">
                <a:solidFill>
                  <a:srgbClr val="3157D5"/>
                </a:solidFill>
                <a:latin typeface="Arial"/>
                <a:ea typeface="Arial"/>
                <a:cs typeface="Arial"/>
              </a:defRPr>
            </a:pPr>
            <a:r>
              <a:rPr sz="2325" b="1">
                <a:solidFill>
                  <a:srgbClr val="3157D5"/>
                </a:solidFill>
                <a:latin typeface="Arial"/>
                <a:ea typeface="Arial"/>
                <a:cs typeface="Arial"/>
              </a:rPr>
              <a:t>Source grounding</a:t>
            </a:r>
          </a:p>
        </p:txBody>
      </p:sp>
      <p:sp>
        <p:nvSpPr>
          <p:cNvPr id="9" name="">
            <a:extLst xmlns:a="http://schemas.openxmlformats.org/drawingml/2006/main">
              <a:ext uri="{FF2B5EF4-FFF2-40B4-BE49-F238E27FC236}">
                <a16:creationId xmlns:a16="http://schemas.microsoft.com/office/drawing/2014/main" id="{C16F7773-2B28-486D-AD3B-4B337865770F}"/>
              </a:ext>
            </a:extLst>
          </p:cNvPr>
          <p:cNvSpPr>
            <a:spLocks xmlns:a="http://schemas.openxmlformats.org/drawingml/2006/main" noGrp="1"/>
          </p:cNvSpPr>
          <p:nvPr/>
        </p:nvSpPr>
        <p:spPr>
          <a:xfrm xmlns:a="http://schemas.openxmlformats.org/drawingml/2006/main">
            <a:off x="3505200" y="4991100"/>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2033"/>
                </a:solidFill>
                <a:latin typeface="Arial"/>
                <a:ea typeface="Arial"/>
                <a:cs typeface="Arial"/>
              </a:defRPr>
            </a:defPPr>
          </a:lstStyle>
          <a:p xmlns:a="http://schemas.openxmlformats.org/drawingml/2006/main">
            <a:pPr>
              <a:defRPr sz="2025" b="0">
                <a:solidFill>
                  <a:srgbClr val="192033"/>
                </a:solidFill>
                <a:latin typeface="Arial"/>
                <a:ea typeface="Arial"/>
                <a:cs typeface="Arial"/>
              </a:defRPr>
            </a:pPr>
            <a:r>
              <a:rPr sz="2025" b="0">
                <a:solidFill>
                  <a:srgbClr val="192033"/>
                </a:solidFill>
                <a:latin typeface="Arial"/>
                <a:ea typeface="Arial"/>
                <a:cs typeface="Arial"/>
              </a:rPr>
              <a:t>Passages connect extracted concepts to the uploaded material.</a:t>
            </a:r>
          </a:p>
        </p:txBody>
      </p:sp>
    </p:spTree>
    <p:extLst>
      <p:ext uri="{BB962C8B-B14F-4D97-AF65-F5344CB8AC3E}">
        <p14:creationId xmlns:p14="http://schemas.microsoft.com/office/powerpoint/2010/main" val="43383412"/>
      </p:ext>
    </p:extLst>
  </p:cSld>
</p:sld>
</file>

<file path=ppt/slides/slide6.xml><?xml version="1.0" encoding="utf-8"?>
<p:sld xmlns:p="http://schemas.openxmlformats.org/presentationml/2006/main">
  <p:cSld>
    <p:bg>
      <p:bgPr>
        <a:solidFill xmlns:a="http://schemas.openxmlformats.org/drawingml/2006/main">
          <a:srgbClr val="19203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AD936A-7542-46A3-A4DF-FAAB5F408DD4}"/>
              </a:ext>
            </a:extLst>
          </p:cNvPr>
          <p:cNvSpPr>
            <a:spLocks xmlns:a="http://schemas.openxmlformats.org/drawingml/2006/main" noGrp="1"/>
          </p:cNvSpPr>
          <p:nvPr/>
        </p:nvSpPr>
        <p:spPr>
          <a:xfrm xmlns:a="http://schemas.openxmlformats.org/drawingml/2006/main">
            <a:off x="609600" y="7810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FFFFFF"/>
                </a:solidFill>
                <a:latin typeface="Arial"/>
                <a:ea typeface="Arial"/>
                <a:cs typeface="Arial"/>
              </a:defRPr>
            </a:defPPr>
          </a:lstStyle>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Open source.</a:t>
            </a:r>
          </a:p>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Ready to explore.</a:t>
            </a:r>
          </a:p>
        </p:txBody>
      </p:sp>
      <p:sp>
        <p:nvSpPr>
          <p:cNvPr id="2" name="">
            <a:extLst xmlns:a="http://schemas.openxmlformats.org/drawingml/2006/main">
              <a:ext uri="{FF2B5EF4-FFF2-40B4-BE49-F238E27FC236}">
                <a16:creationId xmlns:a16="http://schemas.microsoft.com/office/drawing/2014/main" id="{3B911D19-EA19-4FCA-AE21-528258BC0102}"/>
              </a:ext>
            </a:extLst>
          </p:cNvPr>
          <p:cNvSpPr>
            <a:spLocks xmlns:a="http://schemas.openxmlformats.org/drawingml/2006/main" noGrp="1"/>
          </p:cNvSpPr>
          <p:nvPr/>
        </p:nvSpPr>
        <p:spPr>
          <a:xfrm xmlns:a="http://schemas.openxmlformats.org/drawingml/2006/main">
            <a:off x="647700" y="285750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DCE3FF"/>
                </a:solidFill>
                <a:latin typeface="Arial"/>
                <a:ea typeface="Arial"/>
                <a:cs typeface="Arial"/>
              </a:defRPr>
            </a:defPPr>
          </a:lstStyle>
          <a:p xmlns:a="http://schemas.openxmlformats.org/drawingml/2006/main">
            <a:pPr>
              <a:defRPr sz="2400" b="0">
                <a:solidFill>
                  <a:srgbClr val="DCE3FF"/>
                </a:solidFill>
                <a:latin typeface="Arial"/>
                <a:ea typeface="Arial"/>
                <a:cs typeface="Arial"/>
              </a:defRPr>
            </a:pPr>
            <a:r>
              <a:rPr sz="2400" b="0">
                <a:solidFill>
                  <a:srgbClr val="DCE3FF"/>
                </a:solidFill>
                <a:latin typeface="Arial"/>
                <a:ea typeface="Arial"/>
                <a:cs typeface="Arial"/>
              </a:rPr>
              <a:t>MIT-licensed source, database migrations,</a:t>
            </a:r>
          </a:p>
          <a:p xmlns:a="http://schemas.openxmlformats.org/drawingml/2006/main">
            <a:pPr>
              <a:defRPr sz="2400" b="0">
                <a:solidFill>
                  <a:srgbClr val="DCE3FF"/>
                </a:solidFill>
                <a:latin typeface="Arial"/>
                <a:ea typeface="Arial"/>
                <a:cs typeface="Arial"/>
              </a:defRPr>
            </a:pPr>
            <a:r>
              <a:rPr sz="2400" b="0">
                <a:solidFill>
                  <a:srgbClr val="DCE3FF"/>
                </a:solidFill>
                <a:latin typeface="Arial"/>
                <a:ea typeface="Arial"/>
                <a:cs typeface="Arial"/>
              </a:rPr>
              <a:t>and setup instructions are on GitHub.</a:t>
            </a:r>
          </a:p>
        </p:txBody>
      </p:sp>
      <p:sp>
        <p:nvSpPr>
          <p:cNvPr id="3" name="">
            <a:extLst xmlns:a="http://schemas.openxmlformats.org/drawingml/2006/main">
              <a:ext uri="{FF2B5EF4-FFF2-40B4-BE49-F238E27FC236}">
                <a16:creationId xmlns:a16="http://schemas.microsoft.com/office/drawing/2014/main" id="{4D6F083A-08D0-457E-9D11-70150FA83CA5}"/>
              </a:ext>
            </a:extLst>
          </p:cNvPr>
          <p:cNvSpPr>
            <a:spLocks xmlns:a="http://schemas.openxmlformats.org/drawingml/2006/main" noGrp="1"/>
          </p:cNvSpPr>
          <p:nvPr/>
        </p:nvSpPr>
        <p:spPr>
          <a:xfrm xmlns:a="http://schemas.openxmlformats.org/drawingml/2006/main">
            <a:off x="647700" y="44291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FC0FF"/>
                </a:solidFill>
                <a:latin typeface="Arial"/>
                <a:ea typeface="Arial"/>
                <a:cs typeface="Arial"/>
              </a:defRPr>
            </a:defPPr>
          </a:lstStyle>
          <a:p xmlns:a="http://schemas.openxmlformats.org/drawingml/2006/main">
            <a:pPr>
              <a:defRPr sz="2925" b="1">
                <a:solidFill>
                  <a:srgbClr val="AFC0FF"/>
                </a:solidFill>
                <a:latin typeface="Arial"/>
                <a:ea typeface="Arial"/>
                <a:cs typeface="Arial"/>
              </a:defRPr>
            </a:pPr>
            <a:r>
              <a:rPr sz="2925" b="1">
                <a:solidFill>
                  <a:srgbClr val="AFC0FF"/>
                </a:solidFill>
                <a:latin typeface="Arial"/>
                <a:ea typeface="Arial"/>
                <a:cs typeface="Arial"/>
              </a:rPr>
              <a:t>github.com/Akibly/viax</a:t>
            </a:r>
          </a:p>
        </p:txBody>
      </p:sp>
      <p:sp>
        <p:nvSpPr>
          <p:cNvPr id="4" name="">
            <a:extLst xmlns:a="http://schemas.openxmlformats.org/drawingml/2006/main">
              <a:ext uri="{FF2B5EF4-FFF2-40B4-BE49-F238E27FC236}">
                <a16:creationId xmlns:a16="http://schemas.microsoft.com/office/drawing/2014/main" id="{2CEF75FB-C413-4A81-92EE-49EFE4402129}"/>
              </a:ext>
            </a:extLst>
          </p:cNvPr>
          <p:cNvSpPr>
            <a:spLocks xmlns:a="http://schemas.openxmlformats.org/drawingml/2006/main" noGrp="1"/>
          </p:cNvSpPr>
          <p:nvPr/>
        </p:nvSpPr>
        <p:spPr>
          <a:xfrm xmlns:a="http://schemas.openxmlformats.org/drawingml/2006/main">
            <a:off x="647700" y="5391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Try the app: viax-iota.vercel.app</a:t>
            </a:r>
          </a:p>
        </p:txBody>
      </p:sp>
    </p:spTree>
    <p:extLst>
      <p:ext uri="{BB962C8B-B14F-4D97-AF65-F5344CB8AC3E}">
        <p14:creationId xmlns:p14="http://schemas.microsoft.com/office/powerpoint/2010/main" val="3397532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2026-10-15T23:53:29.3720000Z</dcterms:created>
  <dcterms:modified xsi:type="dcterms:W3CDTF">2026-10-15T23:53:29.3720000Z</dcterms:modified>
</coreProperties>
</file>